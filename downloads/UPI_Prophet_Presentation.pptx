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1.svg" ContentType="image/svg+xml"/>
  <Override PartName="/ppt/media/image14.svg" ContentType="image/svg+xml"/>
  <Override PartName="/ppt/media/image2.svg" ContentType="image/svg+xml"/>
  <Override PartName="/ppt/media/image24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9" r:id="rId9"/>
    <p:sldId id="258" r:id="rId8"/>
    <p:sldId id="260" r:id="rId10"/>
    <p:sldId id="266" r:id="rId19"/>
    <p:sldId id="261" r:id="rId11"/>
    <p:sldId id="263" r:id="rId13"/>
    <p:sldId id="267" r:id="rId20"/>
    <p:sldId id="271" r:id="rId24"/>
    <p:sldId id="262" r:id="rId12"/>
    <p:sldId id="268" r:id="rId21"/>
    <p:sldId id="264" r:id="rId14"/>
    <p:sldId id="269" r:id="rId22"/>
    <p:sldId id="270" r:id="rId23"/>
    <p:sldId id="272" r:id="rId25"/>
    <p:sldId id="265" r:id="rId15"/>
  </p:sldIdLst>
  <p:sldSz cx="18288000" cy="10287000"/>
  <p:notesSz cx="6858000" cy="9144000"/>
  <p:embeddedFontLst>
    <p:embeddedFont>
      <p:font typeface="Roboto" charset="1" panose="02000000000000000000"/>
      <p:regular r:id="rId16"/>
    </p:embeddedFont>
    <p:embeddedFont>
      <p:font typeface="Roboto Bold" charset="1" panose="02000000000000000000"/>
      <p:regular r:id="rId17"/>
    </p:embeddedFont>
    <p:embeddedFont>
      <p:font typeface="Roboto Italics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11.xml"/><Relationship Id="rId13" Type="http://schemas.openxmlformats.org/officeDocument/2006/relationships/slide" Target="slides/slide8.xml"/><Relationship Id="rId14" Type="http://schemas.openxmlformats.org/officeDocument/2006/relationships/slide" Target="slides/slide13.xml"/><Relationship Id="rId15" Type="http://schemas.openxmlformats.org/officeDocument/2006/relationships/slide" Target="slides/slide17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6.xml"/><Relationship Id="rId20" Type="http://schemas.openxmlformats.org/officeDocument/2006/relationships/slide" Target="slides/slide9.xml"/><Relationship Id="rId21" Type="http://schemas.openxmlformats.org/officeDocument/2006/relationships/slide" Target="slides/slide12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0.xml"/><Relationship Id="rId25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200" b="0">
                <a:solidFill>
                  <a:srgbClr val="FFFFFF"/>
                </a:solidFill>
              </a:rPr>
              <a:t>Forecast error (MAPE)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dPt>
            <c:idx val="0"/>
            <c:spPr>
              <a:solidFill>
                <a:srgbClr val="47555D"/>
              </a:solidFill>
            </c:spPr>
          </c:dPt>
          <c:dPt>
            <c:idx val="1"/>
            <c:spPr>
              <a:solidFill>
                <a:srgbClr val="47555D"/>
              </a:solidFill>
            </c:spPr>
          </c:dPt>
          <c:dPt>
            <c:idx val="2"/>
            <c:spPr>
              <a:solidFill>
                <a:srgbClr val="47555D"/>
              </a:solidFill>
            </c:spPr>
          </c:dPt>
          <c:dPt>
            <c:idx val="3"/>
            <c:spPr>
              <a:solidFill>
                <a:srgbClr val="47555D"/>
              </a:solidFill>
            </c:spPr>
          </c:dPt>
          <c:dPt>
            <c:idx val="4"/>
            <c:spPr>
              <a:solidFill>
                <a:srgbClr val="00FFFC"/>
              </a:solidFill>
            </c:spPr>
          </c:dPt>
          <c:cat>
            <c:strRef>
              <c:f>Sheet1!$A$2:$A$6</c:f>
              <c:strCache>
                <c:ptCount val="5"/>
                <c:pt idx="0">
                  <c:v>Naive</c:v>
                </c:pt>
                <c:pt idx="1">
                  <c:v>SARIMAX</c:v>
                </c:pt>
                <c:pt idx="2">
                  <c:v>Prophet</c:v>
                </c:pt>
                <c:pt idx="3">
                  <c:v>+ Holidays</c:v>
                </c:pt>
                <c:pt idx="4">
                  <c:v>+ Events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5.54</c:v>
                </c:pt>
                <c:pt idx="1">
                  <c:v>4.96</c:v>
                </c:pt>
                <c:pt idx="2">
                  <c:v>3.32</c:v>
                </c:pt>
                <c:pt idx="3">
                  <c:v>3.17</c:v>
                </c:pt>
                <c:pt idx="4">
                  <c:v>2.45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2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7555D"/>
            </a:solidFill>
          </a:ln>
        </c:spPr>
        <c:txPr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>
          <c:spPr>
            <a:ln>
              <a:solidFill>
                <a:srgbClr val="2A343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8A9BA5"/>
                </a:solidFill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FFFFFF"/>
          </a:solidFill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200" b="0">
                <a:solidFill>
                  <a:srgbClr val="FFFFFF"/>
                </a:solidFill>
              </a:rPr>
              <a:t>Forecast error (MAPE %) by day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Prophet base</c:v>
                </c:pt>
              </c:strCache>
            </c:strRef>
          </c:tx>
          <c:spPr>
            <a:solidFill>
              <a:srgbClr val="47555D"/>
            </a:solidFill>
          </c:spPr>
          <c:cat>
            <c:strRef>
              <c:f>Sheet1!$A$2:$A$4</c:f>
              <c:strCache>
                <c:ptCount val="3"/>
                <c:pt idx="0">
                  <c:v>Ordinary</c:v>
                </c:pt>
                <c:pt idx="1">
                  <c:v>Holiday window</c:v>
                </c:pt>
                <c:pt idx="2">
                  <c:v>Sale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3.11</c:v>
                </c:pt>
                <c:pt idx="1">
                  <c:v>5.21</c:v>
                </c:pt>
                <c:pt idx="2">
                  <c:v>7.27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Holidays</c:v>
                </c:pt>
              </c:strCache>
            </c:strRef>
          </c:tx>
          <c:spPr>
            <a:solidFill>
              <a:srgbClr val="8A9BA5"/>
            </a:solidFill>
          </c:spPr>
          <c:cat>
            <c:strRef>
              <c:f>Sheet1!$A$2:$A$4</c:f>
              <c:strCache>
                <c:ptCount val="3"/>
                <c:pt idx="0">
                  <c:v>Ordinary</c:v>
                </c:pt>
                <c:pt idx="1">
                  <c:v>Holiday window</c:v>
                </c:pt>
                <c:pt idx="2">
                  <c:v>Sale days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3.07</c:v>
                </c:pt>
                <c:pt idx="1">
                  <c:v>3.63</c:v>
                </c:pt>
                <c:pt idx="2">
                  <c:v>8.57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Events</c:v>
                </c:pt>
              </c:strCache>
            </c:strRef>
          </c:tx>
          <c:spPr>
            <a:solidFill>
              <a:srgbClr val="00FFFC"/>
            </a:solidFill>
          </c:spPr>
          <c:cat>
            <c:strRef>
              <c:f>Sheet1!$A$2:$A$4</c:f>
              <c:strCache>
                <c:ptCount val="3"/>
                <c:pt idx="0">
                  <c:v>Ordinary</c:v>
                </c:pt>
                <c:pt idx="1">
                  <c:v>Holiday window</c:v>
                </c:pt>
                <c:pt idx="2">
                  <c:v>Sale days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2.37</c:v>
                </c:pt>
                <c:pt idx="1">
                  <c:v>3.1</c:v>
                </c:pt>
                <c:pt idx="2">
                  <c:v>4.33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800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7555D"/>
            </a:solidFill>
          </a:ln>
        </c:spPr>
        <c:txPr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2A343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8A9BA5"/>
                </a:solidFill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2000">
              <a:solidFill>
                <a:srgbClr val="FFFFFF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2000">
          <a:solidFill>
            <a:srgbClr val="FFFFFF"/>
          </a:solidFill>
          <a:latin typeface="Robot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jpeg"/><Relationship Id="rId15" Type="http://schemas.openxmlformats.org/officeDocument/2006/relationships/image" Target="../media/image18.jpeg"/><Relationship Id="rId16" Type="http://schemas.openxmlformats.org/officeDocument/2006/relationships/image" Target="../media/image19.jpeg"/><Relationship Id="rId17" Type="http://schemas.openxmlformats.org/officeDocument/2006/relationships/image" Target="../media/image20.jpeg"/><Relationship Id="rId18" Type="http://schemas.openxmlformats.org/officeDocument/2006/relationships/image" Target="../media/image4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svg"/><Relationship Id="rId15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29.png"/><Relationship Id="rId13" Type="http://schemas.openxmlformats.org/officeDocument/2006/relationships/image" Target="../media/image30.svg"/><Relationship Id="rId14" Type="http://schemas.openxmlformats.org/officeDocument/2006/relationships/image" Target="../media/image31.png"/><Relationship Id="rId15" Type="http://schemas.openxmlformats.org/officeDocument/2006/relationships/image" Target="../media/image32.svg"/><Relationship Id="rId16" Type="http://schemas.openxmlformats.org/officeDocument/2006/relationships/image" Target="../media/image33.png"/><Relationship Id="rId17" Type="http://schemas.openxmlformats.org/officeDocument/2006/relationships/image" Target="../media/image34.svg"/><Relationship Id="rId18" Type="http://schemas.openxmlformats.org/officeDocument/2006/relationships/image" Target="../media/image35.png"/><Relationship Id="rId19" Type="http://schemas.openxmlformats.org/officeDocument/2006/relationships/image" Target="../media/image3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svg"/><Relationship Id="rId15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svg"/><Relationship Id="rId16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26.jpeg"/><Relationship Id="rId13" Type="http://schemas.openxmlformats.org/officeDocument/2006/relationships/image" Target="../media/image27.jpeg"/><Relationship Id="rId14" Type="http://schemas.openxmlformats.org/officeDocument/2006/relationships/image" Target="../media/image28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jpeg"/><Relationship Id="rId15" Type="http://schemas.openxmlformats.org/officeDocument/2006/relationships/image" Target="../media/image18.jpeg"/><Relationship Id="rId16" Type="http://schemas.openxmlformats.org/officeDocument/2006/relationships/image" Target="../media/image19.jpeg"/><Relationship Id="rId17" Type="http://schemas.openxmlformats.org/officeDocument/2006/relationships/image" Target="../media/image20.jpeg"/><Relationship Id="rId18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37.png"/><Relationship Id="rId13" Type="http://schemas.openxmlformats.org/officeDocument/2006/relationships/image" Target="../media/image16.png"/><Relationship Id="rId14" Type="http://schemas.openxmlformats.org/officeDocument/2006/relationships/image" Target="../media/image38.png"/><Relationship Id="rId15" Type="http://schemas.openxmlformats.org/officeDocument/2006/relationships/image" Target="../media/image39.svg"/><Relationship Id="rId16" Type="http://schemas.openxmlformats.org/officeDocument/2006/relationships/image" Target="../media/image13.png"/><Relationship Id="rId17" Type="http://schemas.openxmlformats.org/officeDocument/2006/relationships/image" Target="../media/image1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4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88432" y="-9703875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1081790" y="2579910"/>
            <a:ext cx="6177510" cy="6678390"/>
          </a:xfrm>
          <a:custGeom>
            <a:avLst/>
            <a:gdLst/>
            <a:ahLst/>
            <a:cxnLst/>
            <a:rect r="r" b="b" t="t" l="l"/>
            <a:pathLst>
              <a:path h="6678390" w="6177510">
                <a:moveTo>
                  <a:pt x="0" y="0"/>
                </a:moveTo>
                <a:lnTo>
                  <a:pt x="6177510" y="0"/>
                </a:lnTo>
                <a:lnTo>
                  <a:pt x="6177510" y="6678390"/>
                </a:lnTo>
                <a:lnTo>
                  <a:pt x="0" y="667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9226361" y="1476235"/>
            <a:ext cx="1137396" cy="47625"/>
            <a:chOff x="0" y="0"/>
            <a:chExt cx="299561" cy="1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12513" y="2788920"/>
            <a:ext cx="9418320" cy="64854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Prophet Model Implementation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2513" y="3429000"/>
            <a:ext cx="9601200" cy="160183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9800" spc="-3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UPI Forecasting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2513" y="5166360"/>
            <a:ext cx="8229600" cy="1280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holiday and event effects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7086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FFFC"/>
                </a:solidFill>
                <a:latin typeface="Roboto Bold"/>
              </a:rPr>
              <a:t>Group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7635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Roboto"/>
              </a:rPr>
              <a:t>Rohan Dedhia  |  Duncan D'lima  |  Sanaz Katpitia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0129803" y="3320517"/>
            <a:ext cx="7129497" cy="4616349"/>
          </a:xfrm>
          <a:custGeom>
            <a:avLst/>
            <a:gdLst/>
            <a:ahLst/>
            <a:cxnLst/>
            <a:rect r="r" b="b" t="t" l="l"/>
            <a:pathLst>
              <a:path h="4616349" w="7129497">
                <a:moveTo>
                  <a:pt x="0" y="0"/>
                </a:moveTo>
                <a:lnTo>
                  <a:pt x="7129497" y="0"/>
                </a:lnTo>
                <a:lnTo>
                  <a:pt x="7129497" y="4616350"/>
                </a:lnTo>
                <a:lnTo>
                  <a:pt x="0" y="4616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4892040" y="6309360"/>
            <a:ext cx="0" cy="1325760"/>
          </a:xfrm>
          <a:prstGeom prst="line">
            <a:avLst/>
          </a:prstGeom>
          <a:ln cap="flat" w="38100">
            <a:solidFill>
              <a:srgbClr val="4252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508760" y="6172200"/>
            <a:ext cx="3108960" cy="101298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5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790M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90521" y="6263640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508760" y="2331720"/>
            <a:ext cx="91440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Forecast UPI?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3611880"/>
            <a:ext cx="8503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Daily volume swings with the calendar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Festivals, paydays and sales cause spikes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Banks plan capacity from daily forecasts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7800" y="6172200"/>
            <a:ext cx="3108960" cy="101298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5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5.3x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4480" y="7178040"/>
            <a:ext cx="3108960" cy="36575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per day, Aug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03520" y="7178040"/>
            <a:ext cx="3108960" cy="36575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growth since Jan 2022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148072" y="6263640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9226361" y="1476235"/>
            <a:ext cx="1137396" cy="47625"/>
            <a:chOff x="0" y="0"/>
            <a:chExt cx="299561" cy="125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37401" y="5181427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37322" y="3896437"/>
            <a:ext cx="5649203" cy="5649203"/>
          </a:xfrm>
          <a:custGeom>
            <a:avLst/>
            <a:gdLst/>
            <a:ahLst/>
            <a:cxnLst/>
            <a:rect r="r" b="b" t="t" l="l"/>
            <a:pathLst>
              <a:path h="5649203" w="5649203">
                <a:moveTo>
                  <a:pt x="0" y="0"/>
                </a:moveTo>
                <a:lnTo>
                  <a:pt x="5649203" y="0"/>
                </a:lnTo>
                <a:lnTo>
                  <a:pt x="5649203" y="5649203"/>
                </a:lnTo>
                <a:lnTo>
                  <a:pt x="0" y="564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-10515236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3"/>
                </a:lnTo>
                <a:lnTo>
                  <a:pt x="0" y="16376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508760" y="2331720"/>
            <a:ext cx="91440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Questions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6050" y="413093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12513" y="421298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3" id="23"/>
          <p:cNvSpPr txBox="true"/>
          <p:nvPr/>
        </p:nvSpPr>
        <p:spPr>
          <a:xfrm rot="0">
            <a:off x="2461707" y="4207136"/>
            <a:ext cx="6061039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 holidays and events improve forecasts?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6050" y="609612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12513" y="617817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2461707" y="6172326"/>
            <a:ext cx="6061039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Does Prophet recover the true effects?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0149" y="413093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286612" y="421298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9" id="29"/>
          <p:cNvSpPr txBox="true"/>
          <p:nvPr/>
        </p:nvSpPr>
        <p:spPr>
          <a:xfrm rot="0">
            <a:off x="10235806" y="4207136"/>
            <a:ext cx="6061603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Does Prophet beat SARIMAX?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20149" y="609612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286612" y="617817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2" id="32"/>
          <p:cNvSpPr txBox="true"/>
          <p:nvPr/>
        </p:nvSpPr>
        <p:spPr>
          <a:xfrm rot="0">
            <a:off x="10235806" y="6172326"/>
            <a:ext cx="6061603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Forecast volume to February 2027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26361" y="1476235"/>
            <a:ext cx="1137396" cy="47625"/>
            <a:chOff x="0" y="0"/>
            <a:chExt cx="299561" cy="125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1321225" y="1476235"/>
            <a:ext cx="1137396" cy="47625"/>
            <a:chOff x="0" y="0"/>
            <a:chExt cx="299561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08760" y="2331720"/>
            <a:ext cx="82296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2513" y="3611880"/>
            <a:ext cx="7863840" cy="3291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 NPCI monthly UPI totals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January 2022 to August 2026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NPCI publishes no daily figures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 we built a daily series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Known effects let us check accuracy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AutoShape 39" id="39"/>
          <p:cNvSpPr/>
          <p:nvPr/>
        </p:nvSpPr>
        <p:spPr>
          <a:xfrm>
            <a:off x="3977639" y="7269480"/>
            <a:ext cx="0" cy="1005840"/>
          </a:xfrm>
          <a:prstGeom prst="line">
            <a:avLst/>
          </a:prstGeom>
          <a:ln cap="flat" w="38100">
            <a:solidFill>
              <a:srgbClr val="4252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id="40" name="TextBox 39"/>
          <p:cNvSpPr txBox="1"/>
          <p:nvPr/>
        </p:nvSpPr>
        <p:spPr>
          <a:xfrm>
            <a:off x="1508760" y="6995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Roboto Bold"/>
              </a:rPr>
              <a:t>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7909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Roboto"/>
              </a:rPr>
              <a:t>months of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6995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Roboto Bold"/>
              </a:rPr>
              <a:t>1,704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7909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Roboto"/>
              </a:rPr>
              <a:t>daily values</a:t>
            </a:r>
          </a:p>
        </p:txBody>
      </p:sp>
      <p:pic>
        <p:nvPicPr>
          <p:cNvPr id="44" name="Picture 43" descr="serie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09760" y="3017520"/>
            <a:ext cx="7863840" cy="4343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1318756" y="2797939"/>
            <a:ext cx="5114557" cy="2058609"/>
          </a:xfrm>
          <a:custGeom>
            <a:avLst/>
            <a:gdLst/>
            <a:ahLst/>
            <a:cxnLst/>
            <a:rect r="r" b="b" t="t" l="l"/>
            <a:pathLst>
              <a:path h="2058609" w="5114557">
                <a:moveTo>
                  <a:pt x="0" y="0"/>
                </a:moveTo>
                <a:lnTo>
                  <a:pt x="5114557" y="0"/>
                </a:lnTo>
                <a:lnTo>
                  <a:pt x="5114557" y="2058609"/>
                </a:lnTo>
                <a:lnTo>
                  <a:pt x="0" y="20586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9897252" y="2634319"/>
            <a:ext cx="6547594" cy="6437358"/>
          </a:xfrm>
          <a:custGeom>
            <a:avLst/>
            <a:gdLst/>
            <a:ahLst/>
            <a:cxnLst/>
            <a:rect r="r" b="b" t="t" l="l"/>
            <a:pathLst>
              <a:path h="6437358" w="6547594">
                <a:moveTo>
                  <a:pt x="0" y="0"/>
                </a:moveTo>
                <a:lnTo>
                  <a:pt x="6547594" y="0"/>
                </a:lnTo>
                <a:lnTo>
                  <a:pt x="6547594" y="6437358"/>
                </a:lnTo>
                <a:lnTo>
                  <a:pt x="0" y="6437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3531" t="0" r="-31603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512513" y="4171690"/>
            <a:ext cx="460678" cy="460678"/>
          </a:xfrm>
          <a:custGeom>
            <a:avLst/>
            <a:gdLst/>
            <a:ahLst/>
            <a:cxnLst/>
            <a:rect r="r" b="b" t="t" l="l"/>
            <a:pathLst>
              <a:path h="460678" w="460678">
                <a:moveTo>
                  <a:pt x="0" y="0"/>
                </a:moveTo>
                <a:lnTo>
                  <a:pt x="460678" y="0"/>
                </a:lnTo>
                <a:lnTo>
                  <a:pt x="460678" y="460678"/>
                </a:lnTo>
                <a:lnTo>
                  <a:pt x="0" y="4606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1508760" y="2331720"/>
            <a:ext cx="859536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Holidays and Events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0358" y="4133590"/>
            <a:ext cx="6949440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Festivals: Diwali, Holi, Eid, Raksha Bandhan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16671" y="5280183"/>
            <a:ext cx="460678" cy="460678"/>
          </a:xfrm>
          <a:custGeom>
            <a:avLst/>
            <a:gdLst/>
            <a:ahLst/>
            <a:cxnLst/>
            <a:rect r="r" b="b" t="t" l="l"/>
            <a:pathLst>
              <a:path h="460678" w="460678">
                <a:moveTo>
                  <a:pt x="0" y="0"/>
                </a:moveTo>
                <a:lnTo>
                  <a:pt x="460678" y="0"/>
                </a:lnTo>
                <a:lnTo>
                  <a:pt x="460678" y="460679"/>
                </a:lnTo>
                <a:lnTo>
                  <a:pt x="0" y="460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2334516" y="5242083"/>
            <a:ext cx="6949440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National holidays as single days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12513" y="6388677"/>
            <a:ext cx="460678" cy="460678"/>
          </a:xfrm>
          <a:custGeom>
            <a:avLst/>
            <a:gdLst/>
            <a:ahLst/>
            <a:cxnLst/>
            <a:rect r="r" b="b" t="t" l="l"/>
            <a:pathLst>
              <a:path h="460678" w="460678">
                <a:moveTo>
                  <a:pt x="0" y="0"/>
                </a:moveTo>
                <a:lnTo>
                  <a:pt x="460678" y="0"/>
                </a:lnTo>
                <a:lnTo>
                  <a:pt x="460678" y="460679"/>
                </a:lnTo>
                <a:lnTo>
                  <a:pt x="0" y="460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2330358" y="6350577"/>
            <a:ext cx="6949440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Events: sale, payday and month-end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321225" y="1476235"/>
            <a:ext cx="1137396" cy="47625"/>
            <a:chOff x="0" y="0"/>
            <a:chExt cx="299561" cy="125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508760" y="2331720"/>
            <a:ext cx="877824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What the Data Shows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3611880"/>
            <a:ext cx="8412480" cy="40233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Volume grew five times since 2022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Saturday highest, Sunday about 7% lower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Paydays lift volume about 4.5%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Festivals add bumps each October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One difference makes it stationary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321225" y="1476235"/>
            <a:ext cx="1137396" cy="47625"/>
            <a:chOff x="0" y="0"/>
            <a:chExt cx="299561" cy="125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id="33" name="Picture 32" descr="weekda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0" y="2926080"/>
            <a:ext cx="6766560" cy="46197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41280" y="78181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A9BA5"/>
                </a:solidFill>
                <a:latin typeface="Roboto"/>
              </a:rPr>
              <a:t>Weekday effect vs 28-day average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576821" y="2372581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1"/>
                </a:lnTo>
                <a:lnTo>
                  <a:pt x="0" y="6500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8791257" y="2238378"/>
            <a:ext cx="4000754" cy="6551484"/>
            <a:chOff x="0" y="0"/>
            <a:chExt cx="1053697" cy="17254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3697" cy="1725494"/>
            </a:xfrm>
            <a:custGeom>
              <a:avLst/>
              <a:gdLst/>
              <a:ahLst/>
              <a:cxnLst/>
              <a:rect r="r" b="b" t="t" l="l"/>
              <a:pathLst>
                <a:path h="1725494" w="1053697">
                  <a:moveTo>
                    <a:pt x="98691" y="0"/>
                  </a:moveTo>
                  <a:lnTo>
                    <a:pt x="955006" y="0"/>
                  </a:lnTo>
                  <a:cubicBezTo>
                    <a:pt x="1009511" y="0"/>
                    <a:pt x="1053697" y="44185"/>
                    <a:pt x="1053697" y="98691"/>
                  </a:cubicBezTo>
                  <a:lnTo>
                    <a:pt x="1053697" y="1626803"/>
                  </a:lnTo>
                  <a:cubicBezTo>
                    <a:pt x="1053697" y="1681308"/>
                    <a:pt x="1009511" y="1725494"/>
                    <a:pt x="955006" y="1725494"/>
                  </a:cubicBezTo>
                  <a:lnTo>
                    <a:pt x="98691" y="1725494"/>
                  </a:lnTo>
                  <a:cubicBezTo>
                    <a:pt x="72516" y="1725494"/>
                    <a:pt x="47414" y="1715096"/>
                    <a:pt x="28906" y="1696588"/>
                  </a:cubicBezTo>
                  <a:cubicBezTo>
                    <a:pt x="10398" y="1678080"/>
                    <a:pt x="0" y="1652977"/>
                    <a:pt x="0" y="1626803"/>
                  </a:cubicBezTo>
                  <a:lnTo>
                    <a:pt x="0" y="98691"/>
                  </a:lnTo>
                  <a:cubicBezTo>
                    <a:pt x="0" y="44185"/>
                    <a:pt x="44185" y="0"/>
                    <a:pt x="98691" y="0"/>
                  </a:cubicBezTo>
                  <a:close/>
                </a:path>
              </a:pathLst>
            </a:custGeom>
            <a:solidFill>
              <a:srgbClr val="42525B">
                <a:alpha val="6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53697" cy="1782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25386" y="2206920"/>
            <a:ext cx="4000754" cy="6551484"/>
            <a:chOff x="0" y="0"/>
            <a:chExt cx="1053697" cy="17254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3697" cy="1725494"/>
            </a:xfrm>
            <a:custGeom>
              <a:avLst/>
              <a:gdLst/>
              <a:ahLst/>
              <a:cxnLst/>
              <a:rect r="r" b="b" t="t" l="l"/>
              <a:pathLst>
                <a:path h="1725494" w="1053697">
                  <a:moveTo>
                    <a:pt x="98691" y="0"/>
                  </a:moveTo>
                  <a:lnTo>
                    <a:pt x="955006" y="0"/>
                  </a:lnTo>
                  <a:cubicBezTo>
                    <a:pt x="1009511" y="0"/>
                    <a:pt x="1053697" y="44185"/>
                    <a:pt x="1053697" y="98691"/>
                  </a:cubicBezTo>
                  <a:lnTo>
                    <a:pt x="1053697" y="1626803"/>
                  </a:lnTo>
                  <a:cubicBezTo>
                    <a:pt x="1053697" y="1681308"/>
                    <a:pt x="1009511" y="1725494"/>
                    <a:pt x="955006" y="1725494"/>
                  </a:cubicBezTo>
                  <a:lnTo>
                    <a:pt x="98691" y="1725494"/>
                  </a:lnTo>
                  <a:cubicBezTo>
                    <a:pt x="72516" y="1725494"/>
                    <a:pt x="47414" y="1715096"/>
                    <a:pt x="28906" y="1696588"/>
                  </a:cubicBezTo>
                  <a:cubicBezTo>
                    <a:pt x="10398" y="1678080"/>
                    <a:pt x="0" y="1652977"/>
                    <a:pt x="0" y="1626803"/>
                  </a:cubicBezTo>
                  <a:lnTo>
                    <a:pt x="0" y="98691"/>
                  </a:lnTo>
                  <a:cubicBezTo>
                    <a:pt x="0" y="44185"/>
                    <a:pt x="44185" y="0"/>
                    <a:pt x="98691" y="0"/>
                  </a:cubicBez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53697" cy="1782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238301" y="4274515"/>
          <a:ext cx="3108960" cy="288036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Trend and seasonality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Plus holiday windows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Plus payday and sale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3572430" y="4274515"/>
          <a:ext cx="3108960" cy="192024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151B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Order chosen by AIC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151B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Same calendar inputs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1561020" y="5669280"/>
            <a:ext cx="3179054" cy="1812061"/>
          </a:xfrm>
          <a:custGeom>
            <a:avLst/>
            <a:gdLst/>
            <a:ahLst/>
            <a:cxnLst/>
            <a:rect r="r" b="b" t="t" l="l"/>
            <a:pathLst>
              <a:path h="1812061" w="3179054">
                <a:moveTo>
                  <a:pt x="0" y="0"/>
                </a:moveTo>
                <a:lnTo>
                  <a:pt x="3179055" y="0"/>
                </a:lnTo>
                <a:lnTo>
                  <a:pt x="3179055" y="1812061"/>
                </a:lnTo>
                <a:lnTo>
                  <a:pt x="0" y="1812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08760" y="2331720"/>
            <a:ext cx="694944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Models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2513" y="3611880"/>
            <a:ext cx="676656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Baseline: same weekday last week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23615" y="2969590"/>
            <a:ext cx="2936038" cy="9525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3600">
                <a:solidFill>
                  <a:srgbClr val="00FFFC"/>
                </a:solidFill>
                <a:latin typeface="Roboto Bold"/>
                <a:ea typeface="Roboto Bold"/>
                <a:cs typeface="Roboto Bold"/>
                <a:sym typeface="Roboto Bold"/>
              </a:rPr>
              <a:t>Prophet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04605" y="2969590"/>
            <a:ext cx="2936038" cy="9525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3600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SARIMAX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416089" y="1476235"/>
            <a:ext cx="1137396" cy="47625"/>
            <a:chOff x="0" y="0"/>
            <a:chExt cx="299561" cy="125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36179" y="2372581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1"/>
                </a:lnTo>
                <a:lnTo>
                  <a:pt x="0" y="6500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2433375" y="4906715"/>
            <a:ext cx="1285877" cy="12858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578099" y="5142023"/>
            <a:ext cx="996429" cy="815260"/>
          </a:xfrm>
          <a:custGeom>
            <a:avLst/>
            <a:gdLst/>
            <a:ahLst/>
            <a:cxnLst/>
            <a:rect r="r" b="b" t="t" l="l"/>
            <a:pathLst>
              <a:path h="815260" w="996429">
                <a:moveTo>
                  <a:pt x="0" y="0"/>
                </a:moveTo>
                <a:lnTo>
                  <a:pt x="996429" y="0"/>
                </a:lnTo>
                <a:lnTo>
                  <a:pt x="996429" y="815260"/>
                </a:lnTo>
                <a:lnTo>
                  <a:pt x="0" y="815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7" id="17"/>
          <p:cNvGrpSpPr/>
          <p:nvPr/>
        </p:nvGrpSpPr>
        <p:grpSpPr>
          <a:xfrm rot="0">
            <a:off x="13960018" y="4906715"/>
            <a:ext cx="1285877" cy="128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208583" y="5277929"/>
            <a:ext cx="693497" cy="543449"/>
          </a:xfrm>
          <a:custGeom>
            <a:avLst/>
            <a:gdLst/>
            <a:ahLst/>
            <a:cxnLst/>
            <a:rect r="r" b="b" t="t" l="l"/>
            <a:pathLst>
              <a:path h="543449" w="693497">
                <a:moveTo>
                  <a:pt x="0" y="0"/>
                </a:moveTo>
                <a:lnTo>
                  <a:pt x="693497" y="0"/>
                </a:lnTo>
                <a:lnTo>
                  <a:pt x="693497" y="543449"/>
                </a:lnTo>
                <a:lnTo>
                  <a:pt x="0" y="5434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1" id="21"/>
          <p:cNvGrpSpPr/>
          <p:nvPr/>
        </p:nvGrpSpPr>
        <p:grpSpPr>
          <a:xfrm rot="0">
            <a:off x="8237000" y="4928535"/>
            <a:ext cx="1285877" cy="128587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522002" y="5210915"/>
            <a:ext cx="715873" cy="721117"/>
          </a:xfrm>
          <a:custGeom>
            <a:avLst/>
            <a:gdLst/>
            <a:ahLst/>
            <a:cxnLst/>
            <a:rect r="r" b="b" t="t" l="l"/>
            <a:pathLst>
              <a:path h="721117" w="715873">
                <a:moveTo>
                  <a:pt x="0" y="0"/>
                </a:moveTo>
                <a:lnTo>
                  <a:pt x="715873" y="0"/>
                </a:lnTo>
                <a:lnTo>
                  <a:pt x="715873" y="721118"/>
                </a:lnTo>
                <a:lnTo>
                  <a:pt x="0" y="7211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5" id="25"/>
          <p:cNvSpPr txBox="true"/>
          <p:nvPr/>
        </p:nvSpPr>
        <p:spPr>
          <a:xfrm rot="0">
            <a:off x="1508760" y="2331720"/>
            <a:ext cx="82296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We Tested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09760" y="2514600"/>
            <a:ext cx="768096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Rolling origin cross validation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Same 10 folds for every model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Scored by MAPE, MAE and RMSE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4088" y="6446520"/>
            <a:ext cx="4754880" cy="7315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2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TRAIN ON TWO YEARS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10528" y="6446520"/>
            <a:ext cx="4754880" cy="7315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2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FORECAST 90 DAYS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34672" y="6446520"/>
            <a:ext cx="4754880" cy="7315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2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ROLL FORWARD, REPEAT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5504455" y="5590185"/>
            <a:ext cx="1443158" cy="683696"/>
          </a:xfrm>
          <a:custGeom>
            <a:avLst/>
            <a:gdLst/>
            <a:ahLst/>
            <a:cxnLst/>
            <a:rect r="r" b="b" t="t" l="l"/>
            <a:pathLst>
              <a:path h="683696" w="1443158">
                <a:moveTo>
                  <a:pt x="0" y="0"/>
                </a:moveTo>
                <a:lnTo>
                  <a:pt x="1443158" y="0"/>
                </a:lnTo>
                <a:lnTo>
                  <a:pt x="1443158" y="683696"/>
                </a:lnTo>
                <a:lnTo>
                  <a:pt x="0" y="68369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1" id="41"/>
          <p:cNvSpPr/>
          <p:nvPr/>
        </p:nvSpPr>
        <p:spPr>
          <a:xfrm flipH="false" flipV="false" rot="0">
            <a:off x="11340387" y="5590185"/>
            <a:ext cx="1443158" cy="683696"/>
          </a:xfrm>
          <a:custGeom>
            <a:avLst/>
            <a:gdLst/>
            <a:ahLst/>
            <a:cxnLst/>
            <a:rect r="r" b="b" t="t" l="l"/>
            <a:pathLst>
              <a:path h="683696" w="1443158">
                <a:moveTo>
                  <a:pt x="0" y="0"/>
                </a:moveTo>
                <a:lnTo>
                  <a:pt x="1443158" y="0"/>
                </a:lnTo>
                <a:lnTo>
                  <a:pt x="1443158" y="683696"/>
                </a:lnTo>
                <a:lnTo>
                  <a:pt x="0" y="68369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2" id="42"/>
          <p:cNvGrpSpPr/>
          <p:nvPr/>
        </p:nvGrpSpPr>
        <p:grpSpPr>
          <a:xfrm rot="0">
            <a:off x="13416089" y="1476235"/>
            <a:ext cx="1137396" cy="47625"/>
            <a:chOff x="0" y="0"/>
            <a:chExt cx="299561" cy="125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4892040" y="6309360"/>
            <a:ext cx="0" cy="1325760"/>
          </a:xfrm>
          <a:prstGeom prst="line">
            <a:avLst/>
          </a:prstGeom>
          <a:ln cap="flat" w="38100">
            <a:solidFill>
              <a:srgbClr val="4252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508760" y="6172200"/>
            <a:ext cx="3108960" cy="101298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5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2.45%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90521" y="6263640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508760" y="2331720"/>
            <a:ext cx="859536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Results at a Glance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3611880"/>
            <a:ext cx="8138160" cy="17373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Prophet with holidays and events best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SARIMAX trails every Prophet version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7800" y="6172200"/>
            <a:ext cx="3108960" cy="101298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5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5.54%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4480" y="7178040"/>
            <a:ext cx="3108960" cy="36575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best model error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03520" y="7178040"/>
            <a:ext cx="3108960" cy="36575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naive baseline error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148072" y="6263640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9418320" y="2651760"/>
          <a:ext cx="8138160" cy="5852160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512513" y="4171690"/>
            <a:ext cx="460678" cy="460678"/>
          </a:xfrm>
          <a:custGeom>
            <a:avLst/>
            <a:gdLst/>
            <a:ahLst/>
            <a:cxnLst/>
            <a:rect r="r" b="b" t="t" l="l"/>
            <a:pathLst>
              <a:path h="460678" w="460678">
                <a:moveTo>
                  <a:pt x="0" y="0"/>
                </a:moveTo>
                <a:lnTo>
                  <a:pt x="460678" y="0"/>
                </a:lnTo>
                <a:lnTo>
                  <a:pt x="460678" y="460678"/>
                </a:lnTo>
                <a:lnTo>
                  <a:pt x="0" y="4606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1508760" y="2331720"/>
            <a:ext cx="859536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Where Error Drops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0358" y="4133590"/>
            <a:ext cx="6949440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Holidays cut holiday-day error 30%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16671" y="5280183"/>
            <a:ext cx="460678" cy="460678"/>
          </a:xfrm>
          <a:custGeom>
            <a:avLst/>
            <a:gdLst/>
            <a:ahLst/>
            <a:cxnLst/>
            <a:rect r="r" b="b" t="t" l="l"/>
            <a:pathLst>
              <a:path h="460678" w="460678">
                <a:moveTo>
                  <a:pt x="0" y="0"/>
                </a:moveTo>
                <a:lnTo>
                  <a:pt x="460678" y="0"/>
                </a:lnTo>
                <a:lnTo>
                  <a:pt x="460678" y="460679"/>
                </a:lnTo>
                <a:lnTo>
                  <a:pt x="0" y="460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2334516" y="5242083"/>
            <a:ext cx="6949440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Events halve error on sale days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12513" y="6388677"/>
            <a:ext cx="460678" cy="460678"/>
          </a:xfrm>
          <a:custGeom>
            <a:avLst/>
            <a:gdLst/>
            <a:ahLst/>
            <a:cxnLst/>
            <a:rect r="r" b="b" t="t" l="l"/>
            <a:pathLst>
              <a:path h="460678" w="460678">
                <a:moveTo>
                  <a:pt x="0" y="0"/>
                </a:moveTo>
                <a:lnTo>
                  <a:pt x="460678" y="0"/>
                </a:lnTo>
                <a:lnTo>
                  <a:pt x="460678" y="460679"/>
                </a:lnTo>
                <a:lnTo>
                  <a:pt x="0" y="460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2330358" y="6350577"/>
            <a:ext cx="6949440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Paydays help ordinary days too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9235440" y="2468880"/>
          <a:ext cx="8412480" cy="6126480"/>
        </p:xfrm>
        <a:graphic>
          <a:graphicData uri="http://schemas.openxmlformats.org/drawingml/2006/chart">
            <c:chart xmlns:c="http://schemas.openxmlformats.org/drawingml/2006/chart" r:id="rId16"/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32620" y="52003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0" y="0"/>
                </a:lnTo>
                <a:lnTo>
                  <a:pt x="10173220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6374215" y="4625279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508760" y="2331720"/>
            <a:ext cx="109728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Estimated vs True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12513" y="4171690"/>
            <a:ext cx="4835363" cy="3665090"/>
            <a:chOff x="0" y="0"/>
            <a:chExt cx="1403151" cy="10635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3151" cy="1063555"/>
            </a:xfrm>
            <a:custGeom>
              <a:avLst/>
              <a:gdLst/>
              <a:ahLst/>
              <a:cxnLst/>
              <a:rect r="r" b="b" t="t" l="l"/>
              <a:pathLst>
                <a:path h="1063555" w="1403151">
                  <a:moveTo>
                    <a:pt x="81656" y="0"/>
                  </a:moveTo>
                  <a:lnTo>
                    <a:pt x="1321495" y="0"/>
                  </a:lnTo>
                  <a:cubicBezTo>
                    <a:pt x="1343151" y="0"/>
                    <a:pt x="1363921" y="8603"/>
                    <a:pt x="1379235" y="23917"/>
                  </a:cubicBezTo>
                  <a:cubicBezTo>
                    <a:pt x="1394548" y="39230"/>
                    <a:pt x="1403151" y="60000"/>
                    <a:pt x="1403151" y="81656"/>
                  </a:cubicBezTo>
                  <a:lnTo>
                    <a:pt x="1403151" y="981899"/>
                  </a:lnTo>
                  <a:cubicBezTo>
                    <a:pt x="1403151" y="1003556"/>
                    <a:pt x="1394548" y="1024325"/>
                    <a:pt x="1379235" y="1039639"/>
                  </a:cubicBezTo>
                  <a:cubicBezTo>
                    <a:pt x="1363921" y="1054952"/>
                    <a:pt x="1343151" y="1063555"/>
                    <a:pt x="1321495" y="1063555"/>
                  </a:cubicBezTo>
                  <a:lnTo>
                    <a:pt x="81656" y="1063555"/>
                  </a:lnTo>
                  <a:cubicBezTo>
                    <a:pt x="60000" y="1063555"/>
                    <a:pt x="39230" y="1054952"/>
                    <a:pt x="23917" y="1039639"/>
                  </a:cubicBezTo>
                  <a:cubicBezTo>
                    <a:pt x="8603" y="1024325"/>
                    <a:pt x="0" y="1003556"/>
                    <a:pt x="0" y="981899"/>
                  </a:cubicBezTo>
                  <a:lnTo>
                    <a:pt x="0" y="81656"/>
                  </a:lnTo>
                  <a:cubicBezTo>
                    <a:pt x="0" y="60000"/>
                    <a:pt x="8603" y="39230"/>
                    <a:pt x="23917" y="23917"/>
                  </a:cubicBezTo>
                  <a:cubicBezTo>
                    <a:pt x="39230" y="8603"/>
                    <a:pt x="60000" y="0"/>
                    <a:pt x="81656" y="0"/>
                  </a:cubicBezTo>
                  <a:close/>
                </a:path>
              </a:pathLst>
            </a:custGeom>
            <a:solidFill>
              <a:srgbClr val="42525B">
                <a:alpha val="6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03151" cy="112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78638" y="6446520"/>
            <a:ext cx="4023360" cy="502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 b="1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Payday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78638" y="6995160"/>
            <a:ext cx="4023360" cy="411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Almost exact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78638" y="4572000"/>
            <a:ext cx="3986557" cy="17373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Estimated +6.2%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True +6.0%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26319" y="4171690"/>
            <a:ext cx="4835363" cy="3665090"/>
            <a:chOff x="0" y="0"/>
            <a:chExt cx="1403151" cy="10635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03151" cy="1063555"/>
            </a:xfrm>
            <a:custGeom>
              <a:avLst/>
              <a:gdLst/>
              <a:ahLst/>
              <a:cxnLst/>
              <a:rect r="r" b="b" t="t" l="l"/>
              <a:pathLst>
                <a:path h="1063555" w="1403151">
                  <a:moveTo>
                    <a:pt x="81656" y="0"/>
                  </a:moveTo>
                  <a:lnTo>
                    <a:pt x="1321495" y="0"/>
                  </a:lnTo>
                  <a:cubicBezTo>
                    <a:pt x="1343151" y="0"/>
                    <a:pt x="1363921" y="8603"/>
                    <a:pt x="1379235" y="23917"/>
                  </a:cubicBezTo>
                  <a:cubicBezTo>
                    <a:pt x="1394548" y="39230"/>
                    <a:pt x="1403151" y="60000"/>
                    <a:pt x="1403151" y="81656"/>
                  </a:cubicBezTo>
                  <a:lnTo>
                    <a:pt x="1403151" y="981899"/>
                  </a:lnTo>
                  <a:cubicBezTo>
                    <a:pt x="1403151" y="1003556"/>
                    <a:pt x="1394548" y="1024325"/>
                    <a:pt x="1379235" y="1039639"/>
                  </a:cubicBezTo>
                  <a:cubicBezTo>
                    <a:pt x="1363921" y="1054952"/>
                    <a:pt x="1343151" y="1063555"/>
                    <a:pt x="1321495" y="1063555"/>
                  </a:cubicBezTo>
                  <a:lnTo>
                    <a:pt x="81656" y="1063555"/>
                  </a:lnTo>
                  <a:cubicBezTo>
                    <a:pt x="60000" y="1063555"/>
                    <a:pt x="39230" y="1054952"/>
                    <a:pt x="23917" y="1039639"/>
                  </a:cubicBezTo>
                  <a:cubicBezTo>
                    <a:pt x="8603" y="1024325"/>
                    <a:pt x="0" y="1003556"/>
                    <a:pt x="0" y="981899"/>
                  </a:cubicBezTo>
                  <a:lnTo>
                    <a:pt x="0" y="81656"/>
                  </a:lnTo>
                  <a:cubicBezTo>
                    <a:pt x="0" y="60000"/>
                    <a:pt x="8603" y="39230"/>
                    <a:pt x="23917" y="23917"/>
                  </a:cubicBezTo>
                  <a:cubicBezTo>
                    <a:pt x="39230" y="8603"/>
                    <a:pt x="60000" y="0"/>
                    <a:pt x="81656" y="0"/>
                  </a:cubicBez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403151" cy="112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192444" y="6446520"/>
            <a:ext cx="4023360" cy="502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 b="1">
                <a:solidFill>
                  <a:srgbClr val="151B1F"/>
                </a:solidFill>
                <a:latin typeface="Roboto"/>
                <a:ea typeface="Roboto"/>
                <a:cs typeface="Roboto"/>
                <a:sym typeface="Roboto"/>
              </a:rPr>
              <a:t>E-commerce sale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92444" y="6995160"/>
            <a:ext cx="4023360" cy="411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Close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92444" y="4572000"/>
            <a:ext cx="3986557" cy="17373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i="true">
                <a:solidFill>
                  <a:srgbClr val="151B1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Estimated +9.8%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i="true">
                <a:solidFill>
                  <a:srgbClr val="151B1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True +10.7%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942681" y="4171690"/>
            <a:ext cx="4835363" cy="3665090"/>
            <a:chOff x="0" y="0"/>
            <a:chExt cx="1403151" cy="10635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03151" cy="1063555"/>
            </a:xfrm>
            <a:custGeom>
              <a:avLst/>
              <a:gdLst/>
              <a:ahLst/>
              <a:cxnLst/>
              <a:rect r="r" b="b" t="t" l="l"/>
              <a:pathLst>
                <a:path h="1063555" w="1403151">
                  <a:moveTo>
                    <a:pt x="81656" y="0"/>
                  </a:moveTo>
                  <a:lnTo>
                    <a:pt x="1321495" y="0"/>
                  </a:lnTo>
                  <a:cubicBezTo>
                    <a:pt x="1343151" y="0"/>
                    <a:pt x="1363921" y="8603"/>
                    <a:pt x="1379235" y="23917"/>
                  </a:cubicBezTo>
                  <a:cubicBezTo>
                    <a:pt x="1394548" y="39230"/>
                    <a:pt x="1403151" y="60000"/>
                    <a:pt x="1403151" y="81656"/>
                  </a:cubicBezTo>
                  <a:lnTo>
                    <a:pt x="1403151" y="981899"/>
                  </a:lnTo>
                  <a:cubicBezTo>
                    <a:pt x="1403151" y="1003556"/>
                    <a:pt x="1394548" y="1024325"/>
                    <a:pt x="1379235" y="1039639"/>
                  </a:cubicBezTo>
                  <a:cubicBezTo>
                    <a:pt x="1363921" y="1054952"/>
                    <a:pt x="1343151" y="1063555"/>
                    <a:pt x="1321495" y="1063555"/>
                  </a:cubicBezTo>
                  <a:lnTo>
                    <a:pt x="81656" y="1063555"/>
                  </a:lnTo>
                  <a:cubicBezTo>
                    <a:pt x="60000" y="1063555"/>
                    <a:pt x="39230" y="1054952"/>
                    <a:pt x="23917" y="1039639"/>
                  </a:cubicBezTo>
                  <a:cubicBezTo>
                    <a:pt x="8603" y="1024325"/>
                    <a:pt x="0" y="1003556"/>
                    <a:pt x="0" y="981899"/>
                  </a:cubicBezTo>
                  <a:lnTo>
                    <a:pt x="0" y="81656"/>
                  </a:lnTo>
                  <a:cubicBezTo>
                    <a:pt x="0" y="60000"/>
                    <a:pt x="8603" y="39230"/>
                    <a:pt x="23917" y="23917"/>
                  </a:cubicBezTo>
                  <a:cubicBezTo>
                    <a:pt x="39230" y="8603"/>
                    <a:pt x="60000" y="0"/>
                    <a:pt x="81656" y="0"/>
                  </a:cubicBezTo>
                  <a:close/>
                </a:path>
              </a:pathLst>
            </a:custGeom>
            <a:solidFill>
              <a:srgbClr val="42525B">
                <a:alpha val="6000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403151" cy="112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408807" y="6446520"/>
            <a:ext cx="4023360" cy="502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 b="1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Diwali window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08807" y="6995160"/>
            <a:ext cx="4023360" cy="411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97B3C4"/>
                </a:solidFill>
                <a:latin typeface="Roboto"/>
                <a:ea typeface="Roboto"/>
                <a:cs typeface="Roboto"/>
                <a:sym typeface="Roboto"/>
              </a:rPr>
              <a:t>Underestimated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08807" y="4572000"/>
            <a:ext cx="3986557" cy="17373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Estimated +7.7%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True +9.1%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08760" y="2331720"/>
            <a:ext cx="82296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Diwali Effect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2513" y="3611880"/>
            <a:ext cx="7863840" cy="3291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Ten-day ramp captured well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estimated 17%, true 20%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Only four Diwalis to learn from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Yearly cycle absorbs some effect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pic>
        <p:nvPicPr>
          <p:cNvPr id="35" name="Picture 34" descr="diwal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8320" y="3017520"/>
            <a:ext cx="7955279" cy="47704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86739" y="-4800178"/>
            <a:ext cx="8899739" cy="8899739"/>
          </a:xfrm>
          <a:custGeom>
            <a:avLst/>
            <a:gdLst/>
            <a:ahLst/>
            <a:cxnLst/>
            <a:rect r="r" b="b" t="t" l="l"/>
            <a:pathLst>
              <a:path h="8899739" w="8899739">
                <a:moveTo>
                  <a:pt x="0" y="0"/>
                </a:moveTo>
                <a:lnTo>
                  <a:pt x="8899739" y="0"/>
                </a:lnTo>
                <a:lnTo>
                  <a:pt x="8899739" y="8899738"/>
                </a:lnTo>
                <a:lnTo>
                  <a:pt x="0" y="8899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422364" y="3840623"/>
            <a:ext cx="5119908" cy="4658406"/>
          </a:xfrm>
          <a:custGeom>
            <a:avLst/>
            <a:gdLst/>
            <a:ahLst/>
            <a:cxnLst/>
            <a:rect r="r" b="b" t="t" l="l"/>
            <a:pathLst>
              <a:path h="4658406" w="5119908">
                <a:moveTo>
                  <a:pt x="0" y="0"/>
                </a:moveTo>
                <a:lnTo>
                  <a:pt x="5119908" y="0"/>
                </a:lnTo>
                <a:lnTo>
                  <a:pt x="5119908" y="4658405"/>
                </a:lnTo>
                <a:lnTo>
                  <a:pt x="0" y="46584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9792590" y="5579975"/>
            <a:ext cx="2972812" cy="2948262"/>
          </a:xfrm>
          <a:custGeom>
            <a:avLst/>
            <a:gdLst/>
            <a:ahLst/>
            <a:cxnLst/>
            <a:rect r="r" b="b" t="t" l="l"/>
            <a:pathLst>
              <a:path h="2948262" w="2972812">
                <a:moveTo>
                  <a:pt x="0" y="0"/>
                </a:moveTo>
                <a:lnTo>
                  <a:pt x="2972812" y="0"/>
                </a:lnTo>
                <a:lnTo>
                  <a:pt x="2972812" y="2948261"/>
                </a:lnTo>
                <a:lnTo>
                  <a:pt x="0" y="29482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512513" y="3730752"/>
            <a:ext cx="7375520" cy="888803"/>
            <a:chOff x="0" y="0"/>
            <a:chExt cx="1942524" cy="2340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2524" cy="234088"/>
            </a:xfrm>
            <a:custGeom>
              <a:avLst/>
              <a:gdLst/>
              <a:ahLst/>
              <a:cxnLst/>
              <a:rect r="r" b="b" t="t" l="l"/>
              <a:pathLst>
                <a:path h="234088" w="1942524">
                  <a:moveTo>
                    <a:pt x="0" y="0"/>
                  </a:moveTo>
                  <a:lnTo>
                    <a:pt x="1942524" y="0"/>
                  </a:lnTo>
                  <a:lnTo>
                    <a:pt x="1942524" y="234088"/>
                  </a:lnTo>
                  <a:lnTo>
                    <a:pt x="0" y="234088"/>
                  </a:ln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942524" cy="291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08760" y="2331720"/>
            <a:ext cx="73152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Model Checks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7567" y="3858768"/>
            <a:ext cx="6217920" cy="5486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did SARIMAX lose?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7567" y="4754880"/>
            <a:ext cx="694944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Its errors grow over 90 days</a:t>
            </a:r>
          </a:p>
          <a:p>
            <a:pPr algn="l" marL="457200" indent="-457200">
              <a:lnSpc>
                <a:spcPct val="100000"/>
              </a:lnSpc>
              <a:spcAft>
                <a:spcPts val="1000"/>
              </a:spcAft>
              <a:buClr>
                <a:srgbClr val="00FFFC"/>
              </a:buClr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overshoots holiday days by 6%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25612" y="5922611"/>
            <a:ext cx="7375520" cy="888803"/>
            <a:chOff x="0" y="0"/>
            <a:chExt cx="1942524" cy="2340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2524" cy="234088"/>
            </a:xfrm>
            <a:custGeom>
              <a:avLst/>
              <a:gdLst/>
              <a:ahLst/>
              <a:cxnLst/>
              <a:rect r="r" b="b" t="t" l="l"/>
              <a:pathLst>
                <a:path h="234088" w="1942524">
                  <a:moveTo>
                    <a:pt x="0" y="0"/>
                  </a:moveTo>
                  <a:lnTo>
                    <a:pt x="1942524" y="0"/>
                  </a:lnTo>
                  <a:lnTo>
                    <a:pt x="1942524" y="234088"/>
                  </a:lnTo>
                  <a:lnTo>
                    <a:pt x="0" y="234088"/>
                  </a:lnTo>
                  <a:close/>
                </a:path>
              </a:pathLst>
            </a:custGeom>
            <a:solidFill>
              <a:srgbClr val="42525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942524" cy="291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750666" y="6080760"/>
            <a:ext cx="6309360" cy="5486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Prophet errors still correlated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25612" y="6811414"/>
            <a:ext cx="7375520" cy="888803"/>
            <a:chOff x="0" y="0"/>
            <a:chExt cx="1942524" cy="2340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42524" cy="234088"/>
            </a:xfrm>
            <a:custGeom>
              <a:avLst/>
              <a:gdLst/>
              <a:ahLst/>
              <a:cxnLst/>
              <a:rect r="r" b="b" t="t" l="l"/>
              <a:pathLst>
                <a:path h="234088" w="1942524">
                  <a:moveTo>
                    <a:pt x="0" y="0"/>
                  </a:moveTo>
                  <a:lnTo>
                    <a:pt x="1942524" y="0"/>
                  </a:lnTo>
                  <a:lnTo>
                    <a:pt x="1942524" y="234088"/>
                  </a:lnTo>
                  <a:lnTo>
                    <a:pt x="0" y="234088"/>
                  </a:ln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42524" cy="291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750666" y="6967728"/>
            <a:ext cx="6309360" cy="5486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Error size changes over time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8268908" y="6197057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0" id="40"/>
          <p:cNvSpPr/>
          <p:nvPr/>
        </p:nvSpPr>
        <p:spPr>
          <a:xfrm flipH="false" flipV="false" rot="0">
            <a:off x="8268908" y="7085860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1" id="41"/>
          <p:cNvGrpSpPr/>
          <p:nvPr/>
        </p:nvGrpSpPr>
        <p:grpSpPr>
          <a:xfrm rot="0">
            <a:off x="8268908" y="4129731"/>
            <a:ext cx="333537" cy="83918"/>
            <a:chOff x="0" y="0"/>
            <a:chExt cx="87845" cy="2210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45" cy="22102"/>
            </a:xfrm>
            <a:custGeom>
              <a:avLst/>
              <a:gdLst/>
              <a:ahLst/>
              <a:cxnLst/>
              <a:rect r="r" b="b" t="t" l="l"/>
              <a:pathLst>
                <a:path h="22102" w="87845">
                  <a:moveTo>
                    <a:pt x="11051" y="0"/>
                  </a:moveTo>
                  <a:lnTo>
                    <a:pt x="76794" y="0"/>
                  </a:lnTo>
                  <a:cubicBezTo>
                    <a:pt x="79725" y="0"/>
                    <a:pt x="82536" y="1164"/>
                    <a:pt x="84608" y="3237"/>
                  </a:cubicBezTo>
                  <a:cubicBezTo>
                    <a:pt x="86681" y="5309"/>
                    <a:pt x="87845" y="8120"/>
                    <a:pt x="87845" y="11051"/>
                  </a:cubicBezTo>
                  <a:lnTo>
                    <a:pt x="87845" y="11051"/>
                  </a:lnTo>
                  <a:cubicBezTo>
                    <a:pt x="87845" y="13982"/>
                    <a:pt x="86681" y="16793"/>
                    <a:pt x="84608" y="18865"/>
                  </a:cubicBezTo>
                  <a:cubicBezTo>
                    <a:pt x="82536" y="20937"/>
                    <a:pt x="79725" y="22102"/>
                    <a:pt x="76794" y="22102"/>
                  </a:cubicBezTo>
                  <a:lnTo>
                    <a:pt x="11051" y="22102"/>
                  </a:lnTo>
                  <a:cubicBezTo>
                    <a:pt x="8120" y="22102"/>
                    <a:pt x="5309" y="20937"/>
                    <a:pt x="3237" y="18865"/>
                  </a:cubicBezTo>
                  <a:cubicBezTo>
                    <a:pt x="1164" y="16793"/>
                    <a:pt x="0" y="13982"/>
                    <a:pt x="0" y="11051"/>
                  </a:cubicBezTo>
                  <a:lnTo>
                    <a:pt x="0" y="11051"/>
                  </a:lnTo>
                  <a:cubicBezTo>
                    <a:pt x="0" y="8120"/>
                    <a:pt x="1164" y="5309"/>
                    <a:pt x="3237" y="3237"/>
                  </a:cubicBezTo>
                  <a:cubicBezTo>
                    <a:pt x="5309" y="1164"/>
                    <a:pt x="8120" y="0"/>
                    <a:pt x="110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7845" cy="60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37401" y="5181427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37322" y="3896437"/>
            <a:ext cx="5649203" cy="5649203"/>
          </a:xfrm>
          <a:custGeom>
            <a:avLst/>
            <a:gdLst/>
            <a:ahLst/>
            <a:cxnLst/>
            <a:rect r="r" b="b" t="t" l="l"/>
            <a:pathLst>
              <a:path h="5649203" w="5649203">
                <a:moveTo>
                  <a:pt x="0" y="0"/>
                </a:moveTo>
                <a:lnTo>
                  <a:pt x="5649203" y="0"/>
                </a:lnTo>
                <a:lnTo>
                  <a:pt x="5649203" y="5649203"/>
                </a:lnTo>
                <a:lnTo>
                  <a:pt x="0" y="564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-10515236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3"/>
                </a:lnTo>
                <a:lnTo>
                  <a:pt x="0" y="16376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508760" y="2331720"/>
            <a:ext cx="100584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Six Month Forecast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id="36" name="Picture 35" descr="foreca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720" y="3657600"/>
            <a:ext cx="11521440" cy="49566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167360" y="402336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800"/>
              </a:spcAft>
              <a:buClr>
                <a:srgbClr val="00FFFC"/>
              </a:buClr>
              <a:buFont typeface="Arial"/>
              <a:buChar char="•"/>
            </a:pPr>
            <a:r>
              <a:rPr sz="2800" b="0">
                <a:solidFill>
                  <a:srgbClr val="FFFFFF"/>
                </a:solidFill>
                <a:latin typeface="Roboto"/>
              </a:rPr>
              <a:t>24 to 26 billion a month</a:t>
            </a:r>
          </a:p>
          <a:p>
            <a:pPr algn="l" marL="457200" indent="-457200">
              <a:lnSpc>
                <a:spcPct val="100000"/>
              </a:lnSpc>
              <a:spcAft>
                <a:spcPts val="1800"/>
              </a:spcAft>
              <a:buClr>
                <a:srgbClr val="00FFFC"/>
              </a:buClr>
              <a:buFont typeface="Arial"/>
              <a:buChar char="•"/>
            </a:pPr>
            <a:r>
              <a:rPr sz="2800" b="0">
                <a:solidFill>
                  <a:srgbClr val="FFFFFF"/>
                </a:solidFill>
                <a:latin typeface="Roboto"/>
              </a:rPr>
              <a:t>Sale and Diwali peaks visible</a:t>
            </a:r>
          </a:p>
          <a:p>
            <a:pPr algn="l" marL="457200" indent="-457200">
              <a:lnSpc>
                <a:spcPct val="100000"/>
              </a:lnSpc>
              <a:spcAft>
                <a:spcPts val="1800"/>
              </a:spcAft>
              <a:buClr>
                <a:srgbClr val="00FFFC"/>
              </a:buClr>
              <a:buFont typeface="Arial"/>
              <a:buChar char="•"/>
            </a:pPr>
            <a:r>
              <a:rPr sz="2800" b="0">
                <a:solidFill>
                  <a:srgbClr val="FFFFFF"/>
                </a:solidFill>
                <a:latin typeface="Roboto"/>
              </a:rPr>
              <a:t>Real range likely wider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37401" y="5181427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37322" y="3896437"/>
            <a:ext cx="5649203" cy="5649203"/>
          </a:xfrm>
          <a:custGeom>
            <a:avLst/>
            <a:gdLst/>
            <a:ahLst/>
            <a:cxnLst/>
            <a:rect r="r" b="b" t="t" l="l"/>
            <a:pathLst>
              <a:path h="5649203" w="5649203">
                <a:moveTo>
                  <a:pt x="0" y="0"/>
                </a:moveTo>
                <a:lnTo>
                  <a:pt x="5649203" y="0"/>
                </a:lnTo>
                <a:lnTo>
                  <a:pt x="5649203" y="5649203"/>
                </a:lnTo>
                <a:lnTo>
                  <a:pt x="0" y="564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-10515236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3"/>
                </a:lnTo>
                <a:lnTo>
                  <a:pt x="0" y="16376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508760" y="2331720"/>
            <a:ext cx="91440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1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6050" y="413093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12513" y="421298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3" id="23"/>
          <p:cNvSpPr txBox="true"/>
          <p:nvPr/>
        </p:nvSpPr>
        <p:spPr>
          <a:xfrm rot="0">
            <a:off x="2461707" y="4207136"/>
            <a:ext cx="6061039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Holidays and events improve 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6050" y="609612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12513" y="617817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2461707" y="6172326"/>
            <a:ext cx="6061039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Prophet recovers most effects closely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0149" y="413093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286612" y="421298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9" id="29"/>
          <p:cNvSpPr txBox="true"/>
          <p:nvPr/>
        </p:nvSpPr>
        <p:spPr>
          <a:xfrm rot="0">
            <a:off x="10235806" y="4207136"/>
            <a:ext cx="6061603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Prophet beats SARIMAX out of sample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20149" y="6096126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286612" y="6178175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2" id="32"/>
          <p:cNvSpPr txBox="true"/>
          <p:nvPr/>
        </p:nvSpPr>
        <p:spPr>
          <a:xfrm rot="0">
            <a:off x="10235806" y="6172326"/>
            <a:ext cx="6061603" cy="1554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Diwali size still underestimated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576821" y="2372581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1"/>
                </a:lnTo>
                <a:lnTo>
                  <a:pt x="0" y="6500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8791257" y="2238378"/>
            <a:ext cx="4000754" cy="6551484"/>
            <a:chOff x="0" y="0"/>
            <a:chExt cx="1053697" cy="17254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3697" cy="1725494"/>
            </a:xfrm>
            <a:custGeom>
              <a:avLst/>
              <a:gdLst/>
              <a:ahLst/>
              <a:cxnLst/>
              <a:rect r="r" b="b" t="t" l="l"/>
              <a:pathLst>
                <a:path h="1725494" w="1053697">
                  <a:moveTo>
                    <a:pt x="98691" y="0"/>
                  </a:moveTo>
                  <a:lnTo>
                    <a:pt x="955006" y="0"/>
                  </a:lnTo>
                  <a:cubicBezTo>
                    <a:pt x="1009511" y="0"/>
                    <a:pt x="1053697" y="44185"/>
                    <a:pt x="1053697" y="98691"/>
                  </a:cubicBezTo>
                  <a:lnTo>
                    <a:pt x="1053697" y="1626803"/>
                  </a:lnTo>
                  <a:cubicBezTo>
                    <a:pt x="1053697" y="1681308"/>
                    <a:pt x="1009511" y="1725494"/>
                    <a:pt x="955006" y="1725494"/>
                  </a:cubicBezTo>
                  <a:lnTo>
                    <a:pt x="98691" y="1725494"/>
                  </a:lnTo>
                  <a:cubicBezTo>
                    <a:pt x="72516" y="1725494"/>
                    <a:pt x="47414" y="1715096"/>
                    <a:pt x="28906" y="1696588"/>
                  </a:cubicBezTo>
                  <a:cubicBezTo>
                    <a:pt x="10398" y="1678080"/>
                    <a:pt x="0" y="1652977"/>
                    <a:pt x="0" y="1626803"/>
                  </a:cubicBezTo>
                  <a:lnTo>
                    <a:pt x="0" y="98691"/>
                  </a:lnTo>
                  <a:cubicBezTo>
                    <a:pt x="0" y="44185"/>
                    <a:pt x="44185" y="0"/>
                    <a:pt x="98691" y="0"/>
                  </a:cubicBezTo>
                  <a:close/>
                </a:path>
              </a:pathLst>
            </a:custGeom>
            <a:solidFill>
              <a:srgbClr val="42525B">
                <a:alpha val="6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53697" cy="1782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25386" y="2206920"/>
            <a:ext cx="4000754" cy="6551484"/>
            <a:chOff x="0" y="0"/>
            <a:chExt cx="1053697" cy="17254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3697" cy="1725494"/>
            </a:xfrm>
            <a:custGeom>
              <a:avLst/>
              <a:gdLst/>
              <a:ahLst/>
              <a:cxnLst/>
              <a:rect r="r" b="b" t="t" l="l"/>
              <a:pathLst>
                <a:path h="1725494" w="1053697">
                  <a:moveTo>
                    <a:pt x="98691" y="0"/>
                  </a:moveTo>
                  <a:lnTo>
                    <a:pt x="955006" y="0"/>
                  </a:lnTo>
                  <a:cubicBezTo>
                    <a:pt x="1009511" y="0"/>
                    <a:pt x="1053697" y="44185"/>
                    <a:pt x="1053697" y="98691"/>
                  </a:cubicBezTo>
                  <a:lnTo>
                    <a:pt x="1053697" y="1626803"/>
                  </a:lnTo>
                  <a:cubicBezTo>
                    <a:pt x="1053697" y="1681308"/>
                    <a:pt x="1009511" y="1725494"/>
                    <a:pt x="955006" y="1725494"/>
                  </a:cubicBezTo>
                  <a:lnTo>
                    <a:pt x="98691" y="1725494"/>
                  </a:lnTo>
                  <a:cubicBezTo>
                    <a:pt x="72516" y="1725494"/>
                    <a:pt x="47414" y="1715096"/>
                    <a:pt x="28906" y="1696588"/>
                  </a:cubicBezTo>
                  <a:cubicBezTo>
                    <a:pt x="10398" y="1678080"/>
                    <a:pt x="0" y="1652977"/>
                    <a:pt x="0" y="1626803"/>
                  </a:cubicBezTo>
                  <a:lnTo>
                    <a:pt x="0" y="98691"/>
                  </a:lnTo>
                  <a:cubicBezTo>
                    <a:pt x="0" y="44185"/>
                    <a:pt x="44185" y="0"/>
                    <a:pt x="98691" y="0"/>
                  </a:cubicBez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53697" cy="1782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238301" y="4274515"/>
          <a:ext cx="3108960" cy="288036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Synthetic daily data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Only four Diwalis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Intervals too narrow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97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3572430" y="4274515"/>
          <a:ext cx="3108960" cy="288036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151B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Real daily data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151B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Prophet plus ARIMA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600">
                          <a:solidFill>
                            <a:srgbClr val="151B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Compare with LSTM</a:t>
                      </a:r>
                      <a:endParaRPr lang="en-US" sz="1100"/>
                    </a:p>
                  </a:txBody>
                  <a:tcPr marL="179379" marR="179379" marT="179379" marB="17937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6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1561020" y="4206240"/>
            <a:ext cx="3179054" cy="1812061"/>
          </a:xfrm>
          <a:custGeom>
            <a:avLst/>
            <a:gdLst/>
            <a:ahLst/>
            <a:cxnLst/>
            <a:rect r="r" b="b" t="t" l="l"/>
            <a:pathLst>
              <a:path h="1812061" w="3179054">
                <a:moveTo>
                  <a:pt x="0" y="0"/>
                </a:moveTo>
                <a:lnTo>
                  <a:pt x="3179055" y="0"/>
                </a:lnTo>
                <a:lnTo>
                  <a:pt x="3179055" y="1812061"/>
                </a:lnTo>
                <a:lnTo>
                  <a:pt x="0" y="1812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08760" y="2331720"/>
            <a:ext cx="694944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64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Looking Ahead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23615" y="2969590"/>
            <a:ext cx="2936038" cy="9525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3400">
                <a:solidFill>
                  <a:srgbClr val="00FFFC"/>
                </a:solidFill>
                <a:latin typeface="Roboto Bold"/>
                <a:ea typeface="Roboto Bold"/>
                <a:cs typeface="Roboto Bold"/>
                <a:sym typeface="Roboto Bold"/>
              </a:rPr>
              <a:t>Limitations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04605" y="2969590"/>
            <a:ext cx="2936038" cy="9525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b="true" sz="3400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Future Work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5510953" y="1476235"/>
            <a:ext cx="1137396" cy="47625"/>
            <a:chOff x="0" y="0"/>
            <a:chExt cx="299561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817433">
            <a:off x="10424160" y="3433102"/>
            <a:ext cx="7548378" cy="4236527"/>
          </a:xfrm>
          <a:custGeom>
            <a:avLst/>
            <a:gdLst/>
            <a:ahLst/>
            <a:cxnLst/>
            <a:rect r="r" b="b" t="t" l="l"/>
            <a:pathLst>
              <a:path h="4236527" w="7548378">
                <a:moveTo>
                  <a:pt x="0" y="0"/>
                </a:moveTo>
                <a:lnTo>
                  <a:pt x="7548378" y="0"/>
                </a:lnTo>
                <a:lnTo>
                  <a:pt x="7548378" y="4236528"/>
                </a:lnTo>
                <a:lnTo>
                  <a:pt x="0" y="42365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508760" y="2331720"/>
            <a:ext cx="9144000" cy="1143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9600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3794760"/>
            <a:ext cx="7330883" cy="7315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Questions are welcome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  |  ATSA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8760" y="6309360"/>
            <a:ext cx="2651760" cy="502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600" b="1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Rohan Dedhia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8760" y="6858000"/>
            <a:ext cx="2651760" cy="411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97B3C4"/>
                </a:solidFill>
                <a:latin typeface="Roboto"/>
                <a:ea typeface="Roboto"/>
                <a:cs typeface="Roboto"/>
                <a:sym typeface="Roboto"/>
              </a:rPr>
              <a:t>E004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43400" y="6309360"/>
            <a:ext cx="2651760" cy="502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600" b="1">
                <a:solidFill>
                  <a:srgbClr val="00FFFC"/>
                </a:solidFill>
                <a:latin typeface="Roboto"/>
                <a:ea typeface="Roboto"/>
                <a:cs typeface="Roboto"/>
                <a:sym typeface="Roboto"/>
              </a:rPr>
              <a:t>Duncan D'lima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43400" y="6858000"/>
            <a:ext cx="2651760" cy="4114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200">
                <a:solidFill>
                  <a:srgbClr val="97B3C4"/>
                </a:solidFill>
                <a:latin typeface="Roboto"/>
                <a:ea typeface="Roboto"/>
                <a:cs typeface="Roboto"/>
                <a:sym typeface="Roboto"/>
              </a:rPr>
              <a:t>E026</a:t>
            </a:r>
          </a:p>
        </p:txBody>
      </p:sp>
      <p:sp>
        <p:nvSpPr>
          <p:cNvPr name="AutoShape 30" id="30"/>
          <p:cNvSpPr/>
          <p:nvPr/>
        </p:nvSpPr>
        <p:spPr>
          <a:xfrm>
            <a:off x="4069080" y="6263640"/>
            <a:ext cx="0" cy="1097280"/>
          </a:xfrm>
          <a:prstGeom prst="line">
            <a:avLst/>
          </a:prstGeom>
          <a:ln cap="flat" w="38100">
            <a:solidFill>
              <a:srgbClr val="4252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Divider 2" id="31"/>
          <p:cNvSpPr/>
          <p:nvPr/>
        </p:nvSpPr>
        <p:spPr>
          <a:xfrm>
            <a:off x="6903720" y="6263640"/>
            <a:ext cx="0" cy="1097280"/>
          </a:xfrm>
          <a:prstGeom prst="line">
            <a:avLst/>
          </a:prstGeom>
          <a:ln cap="flat" w="38100">
            <a:solidFill>
              <a:srgbClr val="4252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178040" y="625449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FC"/>
                </a:solidFill>
                <a:latin typeface="Roboto Bold"/>
              </a:rPr>
              <a:t>Sanaz Katpitia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68031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7B3C4"/>
                </a:solidFill>
                <a:latin typeface="Roboto"/>
              </a:rPr>
              <a:t>E020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2026-10-19T00:00:00Z</dcterms:created>
  <dc:identifier/>
  <dcterms:modified xsi:type="dcterms:W3CDTF">2026-10-19T00:00:00Z</dcterms:modified>
  <cp:revision>1</cp:revision>
  <dc:title>Prophet Model Implementation for Digital Payment Volume Forecasting</dc:title>
  <dc:creator>ATSA Group 2</dc:creator>
  <cp:lastModifiedBy>ATSA Group 2</cp:lastModifiedBy>
</cp:coreProperties>
</file>